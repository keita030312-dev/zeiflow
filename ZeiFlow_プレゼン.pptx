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0"/>
            <a:ext cx="12188952" cy="2743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914400"/>
            <a:ext cx="121889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D4AF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ZeiFlow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0" y="2286000"/>
            <a:ext cx="12188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レシートを撮るだけ。仕訳が終わる。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0" y="320040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税理士事務所向け AI自動仕訳システム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4AF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こんなお悩みありませんか？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371600" y="1645920"/>
            <a:ext cx="9418320" cy="777240"/>
          </a:xfrm>
          <a:prstGeom prst="roundRect">
            <a:avLst>
              <a:gd name="adj" fmla="val 11765"/>
            </a:avLst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1645920" y="1737360"/>
            <a:ext cx="8869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⏰  レシートの手入力に時間がかかる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371600" y="2651760"/>
            <a:ext cx="9418320" cy="777240"/>
          </a:xfrm>
          <a:prstGeom prst="roundRect">
            <a:avLst>
              <a:gd name="adj" fmla="val 11765"/>
            </a:avLst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1645920" y="2743200"/>
            <a:ext cx="8869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❌  入力ミスが多く、修正に手間がかかる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371600" y="3657600"/>
            <a:ext cx="9418320" cy="777240"/>
          </a:xfrm>
          <a:prstGeom prst="roundRect">
            <a:avLst>
              <a:gd name="adj" fmla="val 11765"/>
            </a:avLst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1645920" y="3749040"/>
            <a:ext cx="8869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📋  インボイス番号の管理が面倒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371600" y="4663440"/>
            <a:ext cx="9418320" cy="777240"/>
          </a:xfrm>
          <a:prstGeom prst="roundRect">
            <a:avLst>
              <a:gd name="adj" fmla="val 11765"/>
            </a:avLst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1645920" y="4754880"/>
            <a:ext cx="8869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🔄  弥生・マネーフォワード・freeeへの転記が大変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4AF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ZeiFlowなら解決できます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371600" y="1645920"/>
            <a:ext cx="9418320" cy="777240"/>
          </a:xfrm>
          <a:prstGeom prst="roundRect">
            <a:avLst>
              <a:gd name="adj" fmla="val 11765"/>
            </a:avLst>
          </a:prstGeom>
          <a:solidFill>
            <a:srgbClr val="1E293B"/>
          </a:solidFill>
          <a:ln/>
        </p:spPr>
      </p:sp>
      <p:sp>
        <p:nvSpPr>
          <p:cNvPr id="4" name="Shape 2"/>
          <p:cNvSpPr/>
          <p:nvPr/>
        </p:nvSpPr>
        <p:spPr>
          <a:xfrm>
            <a:off x="1371600" y="1645920"/>
            <a:ext cx="54864" cy="77724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1645920" y="1737360"/>
            <a:ext cx="8869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📸  スマホで撮影 → AIが自動読み取り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371600" y="2651760"/>
            <a:ext cx="9418320" cy="777240"/>
          </a:xfrm>
          <a:prstGeom prst="roundRect">
            <a:avLst>
              <a:gd name="adj" fmla="val 11765"/>
            </a:avLst>
          </a:prstGeom>
          <a:solidFill>
            <a:srgbClr val="1E293B"/>
          </a:solidFill>
          <a:ln/>
        </p:spPr>
      </p:sp>
      <p:sp>
        <p:nvSpPr>
          <p:cNvPr id="7" name="Shape 5"/>
          <p:cNvSpPr/>
          <p:nvPr/>
        </p:nvSpPr>
        <p:spPr>
          <a:xfrm>
            <a:off x="1371600" y="2651760"/>
            <a:ext cx="54864" cy="77724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8" name="Text 6"/>
          <p:cNvSpPr/>
          <p:nvPr/>
        </p:nvSpPr>
        <p:spPr>
          <a:xfrm>
            <a:off x="1645920" y="2743200"/>
            <a:ext cx="8869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🏷️  勘定科目を自動分類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371600" y="3657600"/>
            <a:ext cx="9418320" cy="777240"/>
          </a:xfrm>
          <a:prstGeom prst="roundRect">
            <a:avLst>
              <a:gd name="adj" fmla="val 11765"/>
            </a:avLst>
          </a:prstGeom>
          <a:solidFill>
            <a:srgbClr val="1E293B"/>
          </a:solidFill>
          <a:ln/>
        </p:spPr>
      </p:sp>
      <p:sp>
        <p:nvSpPr>
          <p:cNvPr id="10" name="Shape 8"/>
          <p:cNvSpPr/>
          <p:nvPr/>
        </p:nvSpPr>
        <p:spPr>
          <a:xfrm>
            <a:off x="1371600" y="3657600"/>
            <a:ext cx="54864" cy="77724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1" name="Text 9"/>
          <p:cNvSpPr/>
          <p:nvPr/>
        </p:nvSpPr>
        <p:spPr>
          <a:xfrm>
            <a:off x="1645920" y="3749040"/>
            <a:ext cx="8869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📝  インボイス番号も自動取得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371600" y="4663440"/>
            <a:ext cx="9418320" cy="777240"/>
          </a:xfrm>
          <a:prstGeom prst="roundRect">
            <a:avLst>
              <a:gd name="adj" fmla="val 11765"/>
            </a:avLst>
          </a:prstGeom>
          <a:solidFill>
            <a:srgbClr val="1E293B"/>
          </a:solidFill>
          <a:ln/>
        </p:spPr>
      </p:sp>
      <p:sp>
        <p:nvSpPr>
          <p:cNvPr id="13" name="Shape 11"/>
          <p:cNvSpPr/>
          <p:nvPr/>
        </p:nvSpPr>
        <p:spPr>
          <a:xfrm>
            <a:off x="1371600" y="4663440"/>
            <a:ext cx="54864" cy="77724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4" name="Text 12"/>
          <p:cNvSpPr/>
          <p:nvPr/>
        </p:nvSpPr>
        <p:spPr>
          <a:xfrm>
            <a:off x="1645920" y="4754880"/>
            <a:ext cx="8869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📊  CSV出力でそのまま会計ソフトへ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4AF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3ステップで完了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097280" y="1645920"/>
            <a:ext cx="3108960" cy="27432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/>
        </p:spPr>
      </p:sp>
      <p:sp>
        <p:nvSpPr>
          <p:cNvPr id="4" name="Shape 2"/>
          <p:cNvSpPr/>
          <p:nvPr/>
        </p:nvSpPr>
        <p:spPr>
          <a:xfrm>
            <a:off x="2194560" y="1920240"/>
            <a:ext cx="914400" cy="91440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2194560" y="1965960"/>
            <a:ext cx="914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280160" y="30175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F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撮影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80160" y="35661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レシートをスマホで撮影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0" y="2560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4AF37"/>
                </a:solidFill>
              </a:rPr>
              <a:t>→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4572000" y="1645920"/>
            <a:ext cx="3108960" cy="27432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/>
        </p:spPr>
      </p:sp>
      <p:sp>
        <p:nvSpPr>
          <p:cNvPr id="10" name="Shape 8"/>
          <p:cNvSpPr/>
          <p:nvPr/>
        </p:nvSpPr>
        <p:spPr>
          <a:xfrm>
            <a:off x="5669280" y="1920240"/>
            <a:ext cx="914400" cy="91440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0" y="1965960"/>
            <a:ext cx="914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754880" y="30175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F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自動仕訳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754880" y="35661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AIが自動で仕訳を作成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589520" y="2560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4AF37"/>
                </a:solidFill>
              </a:rPr>
              <a:t>→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8046720" y="1645920"/>
            <a:ext cx="3108960" cy="27432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/>
        </p:spPr>
      </p:sp>
      <p:sp>
        <p:nvSpPr>
          <p:cNvPr id="16" name="Shape 14"/>
          <p:cNvSpPr/>
          <p:nvPr/>
        </p:nvSpPr>
        <p:spPr>
          <a:xfrm>
            <a:off x="9144000" y="1920240"/>
            <a:ext cx="914400" cy="91440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0" y="1965960"/>
            <a:ext cx="914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8229600" y="30175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F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CSV出力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229600" y="35661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会計ソフトに取り込み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0" y="475488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D4AF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たった数秒で仕訳が完了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4AF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主な機能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3291840" cy="1828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6459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📸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737360" y="16459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F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AI自動読み取り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737360" y="219456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店舗名・金額・日付・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インボイス番号を自動取得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89120" y="1463040"/>
            <a:ext cx="3291840" cy="1828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4663440" y="16459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394960" y="16459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F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CSV出力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394960" y="219456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弥生会計・マネーフォワード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・freee対応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46720" y="1463040"/>
            <a:ext cx="3291840" cy="1828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16459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👥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9052560" y="16459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F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顧客管理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052560" y="219456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月次・半期・年次で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仕訳を管理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3657600"/>
            <a:ext cx="3291840" cy="1828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38404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🤝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737360" y="3840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F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チーム共有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737360" y="438912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複数スタッフで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同じデータを管理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389120" y="3657600"/>
            <a:ext cx="3291840" cy="1828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/>
        </p:spPr>
      </p:sp>
      <p:sp>
        <p:nvSpPr>
          <p:cNvPr id="20" name="Text 18"/>
          <p:cNvSpPr/>
          <p:nvPr/>
        </p:nvSpPr>
        <p:spPr>
          <a:xfrm>
            <a:off x="4663440" y="38404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📱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5394960" y="3840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F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マルチデバイス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394960" y="438912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スマホ・PC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どこからでも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4AF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インボイス制度に完全対応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828800"/>
            <a:ext cx="3291840" cy="2286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828800"/>
            <a:ext cx="3291840" cy="5486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21031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自動読み取り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05840" y="274320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適格請求書の登録番号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（T+13桁）を自動で読み取り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89120" y="1828800"/>
            <a:ext cx="3291840" cy="2286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/>
        </p:spPr>
      </p:sp>
      <p:sp>
        <p:nvSpPr>
          <p:cNvPr id="8" name="Shape 6"/>
          <p:cNvSpPr/>
          <p:nvPr/>
        </p:nvSpPr>
        <p:spPr>
          <a:xfrm>
            <a:off x="4389120" y="1828800"/>
            <a:ext cx="3291840" cy="5486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1031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顧客ごとに管理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663440" y="274320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インボイス登録番号を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顧客情報に紐づけて管理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046720" y="1828800"/>
            <a:ext cx="3291840" cy="2286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/>
        </p:spPr>
      </p:sp>
      <p:sp>
        <p:nvSpPr>
          <p:cNvPr id="12" name="Shape 10"/>
          <p:cNvSpPr/>
          <p:nvPr/>
        </p:nvSpPr>
        <p:spPr>
          <a:xfrm>
            <a:off x="8046720" y="1828800"/>
            <a:ext cx="3291840" cy="5486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21031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CSV自動記載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321040" y="274320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出力時に登録番号を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自動で記載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4AF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セキュリティ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371600" y="1645920"/>
            <a:ext cx="9418320" cy="68580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1645920" y="1719072"/>
            <a:ext cx="8869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🔐  二要素認証（Google Authenticator対応）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371600" y="2514600"/>
            <a:ext cx="9418320" cy="68580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1645920" y="2587752"/>
            <a:ext cx="8869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🔒  全通信HTTPS暗号化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371600" y="3383280"/>
            <a:ext cx="9418320" cy="68580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1645920" y="3456432"/>
            <a:ext cx="8869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📋  操作履歴の監査ログ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371600" y="4251960"/>
            <a:ext cx="9418320" cy="68580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1645920" y="4325112"/>
            <a:ext cx="8869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💾  データバックアップ機能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0" y="502920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D4AF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大切な顧問先のデータを守ります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4AF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導入効果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手作業と比較した場合の効率化シミュレーション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5303520" cy="3840480"/>
          </a:xfrm>
          <a:prstGeom prst="roundRect">
            <a:avLst>
              <a:gd name="adj" fmla="val 3571"/>
            </a:avLst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645920"/>
            <a:ext cx="530352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82880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導入前（手作業）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4688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レシート1枚の入力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0" y="24688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約5分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2926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月100枚 × 5分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0" y="29260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約8.3時間/月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33832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人件費（時給2,000円）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114800" y="33832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約16,600円/月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40233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年間コスト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0" y="40233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F44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約20万円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05840" y="45720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＋ 入力ミスによる修正コスト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" y="4846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＋ インボイス番号の確認作業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45352" y="1645920"/>
            <a:ext cx="5303520" cy="3840480"/>
          </a:xfrm>
          <a:prstGeom prst="roundRect">
            <a:avLst>
              <a:gd name="adj" fmla="val 3571"/>
            </a:avLst>
          </a:prstGeom>
          <a:solidFill>
            <a:srgbClr val="1E293B"/>
          </a:solidFill>
          <a:ln/>
        </p:spPr>
      </p:sp>
      <p:sp>
        <p:nvSpPr>
          <p:cNvPr id="18" name="Shape 16"/>
          <p:cNvSpPr/>
          <p:nvPr/>
        </p:nvSpPr>
        <p:spPr>
          <a:xfrm>
            <a:off x="6245352" y="1645920"/>
            <a:ext cx="5303520" cy="5486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9" name="Text 17"/>
          <p:cNvSpPr/>
          <p:nvPr/>
        </p:nvSpPr>
        <p:spPr>
          <a:xfrm>
            <a:off x="6519672" y="182880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導入後（ZeiFlow）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519672" y="24688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レシート1枚の処理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601200" y="24688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約15秒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519672" y="2926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月100枚 × 15秒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601200" y="29260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約25分/月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519672" y="33832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月額利用料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601200" y="33832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2万円/月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519672" y="40233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年間コスト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144000" y="40233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D4AF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24万円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519672" y="45720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AF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 入力ミスほぼゼロ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519672" y="4846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AF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 インボイス番号も自動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4AF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年間の効果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3474720" cy="2926080"/>
          </a:xfrm>
          <a:prstGeom prst="roundRect">
            <a:avLst>
              <a:gd name="adj" fmla="val 4688"/>
            </a:avLst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73736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D4AF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95%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40080" y="28346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作業時間削減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33832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8.3時間 → 25分/月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97680" y="1463040"/>
            <a:ext cx="3474720" cy="2926080"/>
          </a:xfrm>
          <a:prstGeom prst="roundRect">
            <a:avLst>
              <a:gd name="adj" fmla="val 4688"/>
            </a:avLst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4480560" y="173736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D4AF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100時間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4480560" y="28346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年間の時間削減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480560" y="33832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他の業務に使える時間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138160" y="1463040"/>
            <a:ext cx="3474720" cy="2926080"/>
          </a:xfrm>
          <a:prstGeom prst="roundRect">
            <a:avLst>
              <a:gd name="adj" fmla="val 4688"/>
            </a:avLst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173736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D4AF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0件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8321040" y="28346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入力ミス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321040" y="33832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AIが正確に読み取り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286000" y="4663440"/>
            <a:ext cx="7616952" cy="9144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/>
        </p:spPr>
      </p:sp>
      <p:sp>
        <p:nvSpPr>
          <p:cNvPr id="16" name="Shape 14"/>
          <p:cNvSpPr/>
          <p:nvPr/>
        </p:nvSpPr>
        <p:spPr>
          <a:xfrm>
            <a:off x="2286000" y="4663440"/>
            <a:ext cx="7616952" cy="4572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7" name="Text 15"/>
          <p:cNvSpPr/>
          <p:nvPr/>
        </p:nvSpPr>
        <p:spPr>
          <a:xfrm>
            <a:off x="2286000" y="4846320"/>
            <a:ext cx="7616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顧問先が10社なら → 年間1,000時間の削減効果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4AF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料金プラン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14400" y="1463040"/>
            <a:ext cx="5029200" cy="3657600"/>
          </a:xfrm>
          <a:prstGeom prst="roundRect">
            <a:avLst>
              <a:gd name="adj" fmla="val 3750"/>
            </a:avLst>
          </a:prstGeom>
          <a:solidFill>
            <a:srgbClr val="1E293B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463040"/>
            <a:ext cx="5029200" cy="5486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73736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初期導入費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2103120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4AF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30万円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3657600" y="2560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（税別）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71600" y="3200400"/>
            <a:ext cx="4114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 アカウント設定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 初期サポート・操作説明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 カスタマイズ対応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45352" y="1463040"/>
            <a:ext cx="5029200" cy="3657600"/>
          </a:xfrm>
          <a:prstGeom prst="roundRect">
            <a:avLst>
              <a:gd name="adj" fmla="val 3750"/>
            </a:avLst>
          </a:prstGeom>
          <a:solidFill>
            <a:srgbClr val="1E293B"/>
          </a:solidFill>
          <a:ln/>
        </p:spPr>
      </p:sp>
      <p:sp>
        <p:nvSpPr>
          <p:cNvPr id="10" name="Shape 8"/>
          <p:cNvSpPr/>
          <p:nvPr/>
        </p:nvSpPr>
        <p:spPr>
          <a:xfrm>
            <a:off x="6245352" y="1463040"/>
            <a:ext cx="5029200" cy="5486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1" name="Text 9"/>
          <p:cNvSpPr/>
          <p:nvPr/>
        </p:nvSpPr>
        <p:spPr>
          <a:xfrm>
            <a:off x="6519672" y="173736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月額利用料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19672" y="2103120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4AF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2万円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8686800" y="25603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（税別）/ 事務所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702552" y="3200400"/>
            <a:ext cx="4114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 AI読み取り無制限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 全機能利用可能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 メールサポート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4AF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導入の流れ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828800"/>
            <a:ext cx="2560320" cy="2743200"/>
          </a:xfrm>
          <a:prstGeom prst="roundRect">
            <a:avLst>
              <a:gd name="adj" fmla="val 3571"/>
            </a:avLst>
          </a:prstGeom>
          <a:solidFill>
            <a:srgbClr val="1E293B"/>
          </a:solidFill>
          <a:ln/>
        </p:spPr>
      </p:sp>
      <p:sp>
        <p:nvSpPr>
          <p:cNvPr id="4" name="Shape 2"/>
          <p:cNvSpPr/>
          <p:nvPr/>
        </p:nvSpPr>
        <p:spPr>
          <a:xfrm>
            <a:off x="1280160" y="2103120"/>
            <a:ext cx="914400" cy="91440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1280160" y="2148840"/>
            <a:ext cx="914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32004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お問い合わせ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37490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ご相談は無料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926080" y="2560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D4AF37"/>
                </a:solidFill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383280" y="1828800"/>
            <a:ext cx="2560320" cy="2743200"/>
          </a:xfrm>
          <a:prstGeom prst="roundRect">
            <a:avLst>
              <a:gd name="adj" fmla="val 3571"/>
            </a:avLst>
          </a:prstGeom>
          <a:solidFill>
            <a:srgbClr val="1E293B"/>
          </a:solidFill>
          <a:ln/>
        </p:spPr>
      </p:sp>
      <p:sp>
        <p:nvSpPr>
          <p:cNvPr id="10" name="Shape 8"/>
          <p:cNvSpPr/>
          <p:nvPr/>
        </p:nvSpPr>
        <p:spPr>
          <a:xfrm>
            <a:off x="4206240" y="2103120"/>
            <a:ext cx="914400" cy="91440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1" name="Text 9"/>
          <p:cNvSpPr/>
          <p:nvPr/>
        </p:nvSpPr>
        <p:spPr>
          <a:xfrm>
            <a:off x="4206240" y="2148840"/>
            <a:ext cx="914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566160" y="32004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デモ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566160" y="37490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実際の画面をご案内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852160" y="2560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D4AF37"/>
                </a:solidFill>
              </a:rPr>
              <a:t>→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6309360" y="1828800"/>
            <a:ext cx="2560320" cy="2743200"/>
          </a:xfrm>
          <a:prstGeom prst="roundRect">
            <a:avLst>
              <a:gd name="adj" fmla="val 3571"/>
            </a:avLst>
          </a:prstGeom>
          <a:solidFill>
            <a:srgbClr val="1E293B"/>
          </a:solidFill>
          <a:ln/>
        </p:spPr>
      </p:sp>
      <p:sp>
        <p:nvSpPr>
          <p:cNvPr id="16" name="Shape 14"/>
          <p:cNvSpPr/>
          <p:nvPr/>
        </p:nvSpPr>
        <p:spPr>
          <a:xfrm>
            <a:off x="7132320" y="2103120"/>
            <a:ext cx="914400" cy="91440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0" y="2148840"/>
            <a:ext cx="914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492240" y="32004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初期設定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92240" y="37490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アカウント設定・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操作サポート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778240" y="2560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D4AF37"/>
                </a:solidFill>
              </a:rPr>
              <a:t>→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9235440" y="1828800"/>
            <a:ext cx="2560320" cy="2743200"/>
          </a:xfrm>
          <a:prstGeom prst="roundRect">
            <a:avLst>
              <a:gd name="adj" fmla="val 3571"/>
            </a:avLst>
          </a:prstGeom>
          <a:solidFill>
            <a:srgbClr val="1E293B"/>
          </a:solidFill>
          <a:ln/>
        </p:spPr>
      </p:sp>
      <p:sp>
        <p:nvSpPr>
          <p:cNvPr id="22" name="Shape 20"/>
          <p:cNvSpPr/>
          <p:nvPr/>
        </p:nvSpPr>
        <p:spPr>
          <a:xfrm>
            <a:off x="10058400" y="2103120"/>
            <a:ext cx="914400" cy="91440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23" name="Text 21"/>
          <p:cNvSpPr/>
          <p:nvPr/>
        </p:nvSpPr>
        <p:spPr>
          <a:xfrm>
            <a:off x="10058400" y="2148840"/>
            <a:ext cx="914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9418320" y="32004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運用開始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418320" y="37490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最短1日で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利用開始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0" y="502920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D4AF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最短1日で利用開始できます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28800"/>
            <a:ext cx="12188952" cy="2743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73152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D4AF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ZeiFlow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0" y="2286000"/>
            <a:ext cx="12188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まずはデモをお試しください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355848" y="3474720"/>
            <a:ext cx="5486400" cy="182880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3355848" y="3657600"/>
            <a:ext cx="5486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8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メール: keita.030312@gmail.com</a:t>
            </a:r>
            <a:endParaRPr lang="en-US" sz="1800" dirty="0"/>
          </a:p>
          <a:p>
            <a:pPr algn="ctr" indent="0" marL="0">
              <a:lnSpc>
                <a:spcPct val="18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URL: https://zeiflow.vercel.app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ZeiFlow - 税理士事務所向けAI自動仕訳システム</dc:title>
  <dc:subject>PptxGenJS Presentation</dc:subject>
  <dc:creator>ZeiFlow</dc:creator>
  <cp:lastModifiedBy>ZeiFlow</cp:lastModifiedBy>
  <cp:revision>1</cp:revision>
  <dcterms:created xsi:type="dcterms:W3CDTF">2026-04-08T17:50:55Z</dcterms:created>
  <dcterms:modified xsi:type="dcterms:W3CDTF">2026-04-08T17:50:55Z</dcterms:modified>
</cp:coreProperties>
</file>